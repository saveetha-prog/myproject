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8" r:id="rId5"/>
    <p:sldId id="293" r:id="rId6"/>
    <p:sldId id="294" r:id="rId7"/>
    <p:sldId id="296"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01" y="600"/>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1B6C-FF90-28A0-EC2D-A15284E879D6}"/>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8573C345-5945-F299-B3E3-9518804934B8}"/>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2550129B-C493-A1E4-1534-780EA266B373}"/>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a:extLst>
              <a:ext uri="{FF2B5EF4-FFF2-40B4-BE49-F238E27FC236}">
                <a16:creationId xmlns:a16="http://schemas.microsoft.com/office/drawing/2014/main" id="{6995E17E-3016-7373-83EF-586CFA1FDA96}"/>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4</a:t>
            </a:fld>
            <a:endParaRPr lang="en-US"/>
          </a:p>
        </p:txBody>
      </p:sp>
    </p:spTree>
    <p:extLst>
      <p:ext uri="{BB962C8B-B14F-4D97-AF65-F5344CB8AC3E}">
        <p14:creationId xmlns:p14="http://schemas.microsoft.com/office/powerpoint/2010/main" val="1857935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9/16/2025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9/16/2025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9/16/2025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9/16/2025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2914065" y="-4003597"/>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129165"/>
            <a:ext cx="5924550" cy="4732834"/>
          </a:xfrm>
          <a:prstGeom prst="rect">
            <a:avLst/>
          </a:prstGeom>
          <a:noFill/>
        </p:spPr>
        <p:txBody>
          <a:bodyPr wrap="square" rtlCol="0">
            <a:spAutoFit/>
          </a:bodyPr>
          <a:lstStyle/>
          <a:p>
            <a:endParaRPr lang="en-US" dirty="0"/>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IN" sz="2400" dirty="0">
                <a:latin typeface="Arial" panose="020B0604020202020204" pitchFamily="34" charset="0"/>
                <a:cs typeface="Arial" panose="020B0604020202020204" pitchFamily="34" charset="0"/>
              </a:rPr>
              <a:t>SIH25058</a:t>
            </a:r>
            <a:endParaRPr lang="en-US" sz="24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 </a:t>
            </a:r>
            <a:r>
              <a:rPr lang="en-US" sz="2400" dirty="0">
                <a:latin typeface="Arial" panose="020B0604020202020204" pitchFamily="34" charset="0"/>
                <a:cs typeface="Arial" panose="020B0604020202020204" pitchFamily="34" charset="0"/>
              </a:rPr>
              <a:t>Detection and Prevention of Tampering in Weighing and Measuring instruments</a:t>
            </a:r>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 </a:t>
            </a:r>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lang="en-US" sz="2400" dirty="0">
                <a:latin typeface="Arial" panose="020B0604020202020204" pitchFamily="34" charset="0"/>
                <a:cs typeface="Arial" panose="020B0604020202020204" pitchFamily="34" charset="0"/>
              </a:rPr>
              <a:t>Hardware</a:t>
            </a:r>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 Binary Brains</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316456" y="57097"/>
            <a:ext cx="11867488" cy="915009"/>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200" b="1" dirty="0">
                <a:latin typeface="Times New Roman" panose="02020603050405020304" pitchFamily="18" charset="0"/>
                <a:ea typeface="ＭＳ Ｐゴシック" pitchFamily="1" charset="-128"/>
                <a:cs typeface="Times New Roman" panose="02020603050405020304" pitchFamily="18" charset="0"/>
              </a:rPr>
              <a:t>Tamper Detection in Weighing and</a:t>
            </a:r>
            <a:br>
              <a:rPr lang="en-US" sz="3200" b="1" dirty="0">
                <a:latin typeface="Times New Roman" panose="02020603050405020304" pitchFamily="18" charset="0"/>
                <a:ea typeface="ＭＳ Ｐゴシック" pitchFamily="1" charset="-128"/>
                <a:cs typeface="Times New Roman" panose="02020603050405020304" pitchFamily="18" charset="0"/>
              </a:rPr>
            </a:br>
            <a:r>
              <a:rPr lang="en-US" sz="3200" b="1" dirty="0">
                <a:latin typeface="Times New Roman" panose="02020603050405020304" pitchFamily="18" charset="0"/>
                <a:ea typeface="ＭＳ Ｐゴシック" pitchFamily="1" charset="-128"/>
                <a:cs typeface="Times New Roman" panose="02020603050405020304" pitchFamily="18" charset="0"/>
              </a:rPr>
              <a:t> Measuring Instruments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 Binary Brains</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AA0124B-AE49-DB4D-7F1B-2B4B946D19F6}"/>
              </a:ext>
            </a:extLst>
          </p:cNvPr>
          <p:cNvSpPr txBox="1"/>
          <p:nvPr/>
        </p:nvSpPr>
        <p:spPr>
          <a:xfrm>
            <a:off x="329773" y="1265552"/>
            <a:ext cx="2460930" cy="646331"/>
          </a:xfrm>
          <a:prstGeom prst="rect">
            <a:avLst/>
          </a:prstGeom>
          <a:noFill/>
        </p:spPr>
        <p:txBody>
          <a:bodyPr wrap="none" rtlCol="0">
            <a:spAutoFit/>
          </a:bodyPr>
          <a:lstStyle/>
          <a:p>
            <a:pPr marL="285750" indent="-285750">
              <a:buFont typeface="Wingdings" panose="05000000000000000000" pitchFamily="2" charset="2"/>
              <a:buChar char="Ø"/>
            </a:pPr>
            <a:r>
              <a:rPr lang="en-US" b="1" u="sng" dirty="0">
                <a:latin typeface="Arial" panose="020B0604020202020204" pitchFamily="34" charset="0"/>
                <a:ea typeface="Calibri" panose="020F0502020204030204" pitchFamily="34" charset="0"/>
                <a:cs typeface="Arial" panose="020B0604020202020204" pitchFamily="34" charset="0"/>
              </a:rPr>
              <a:t>Common Problem</a:t>
            </a:r>
          </a:p>
          <a:p>
            <a:endParaRPr lang="en-IN" b="1" u="sng" dirty="0">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AB5C1C96-D6CB-CAD5-8DB5-9C57F8A3C966}"/>
              </a:ext>
            </a:extLst>
          </p:cNvPr>
          <p:cNvSpPr txBox="1"/>
          <p:nvPr/>
        </p:nvSpPr>
        <p:spPr>
          <a:xfrm>
            <a:off x="316456" y="1589823"/>
            <a:ext cx="11532454" cy="2585323"/>
          </a:xfrm>
          <a:prstGeom prst="rect">
            <a:avLst/>
          </a:prstGeom>
          <a:noFill/>
        </p:spPr>
        <p:txBody>
          <a:bodyPr wrap="square">
            <a:spAutoFit/>
          </a:bodyPr>
          <a:lstStyle/>
          <a:p>
            <a:pPr marL="285750" indent="-285750">
              <a:buFont typeface="Courier New" panose="02070309020205020404" pitchFamily="49" charset="0"/>
              <a:buChar char="o"/>
            </a:pPr>
            <a:r>
              <a:rPr lang="en-US" dirty="0"/>
              <a:t>Every year, Indian consumers collectively lose an estimated ₹5,000 crore due to tampered weighing instruments and inaccurate measurements in trade markets.</a:t>
            </a:r>
            <a:endParaRPr lang="en-US" b="1" dirty="0"/>
          </a:p>
          <a:p>
            <a:pPr marL="285750" indent="-285750">
              <a:buFont typeface="Courier New" panose="02070309020205020404" pitchFamily="49" charset="0"/>
              <a:buChar char="o"/>
            </a:pPr>
            <a:r>
              <a:rPr lang="en-US" dirty="0"/>
              <a:t>The practice of tampering with measurement devices to manipulate readings has become a pervasive issue. This isn’t                        just limited to local where scales might be altered to give false weights. It's a far more widespread problem, affecting virtually all systems that rely on accurate readings. The problem isn't limited to commerce. It affects the accuracy of scientific measurements, the safety of products like medicine, and the integrity of data collected for research. For example, a tampered scale in a laboratory could lead to incorrect dosage calculations, with potentially dangerous consequences.</a:t>
            </a:r>
          </a:p>
          <a:p>
            <a:endParaRPr lang="en-US" dirty="0"/>
          </a:p>
        </p:txBody>
      </p:sp>
      <p:sp>
        <p:nvSpPr>
          <p:cNvPr id="3" name="TextBox 2">
            <a:extLst>
              <a:ext uri="{FF2B5EF4-FFF2-40B4-BE49-F238E27FC236}">
                <a16:creationId xmlns:a16="http://schemas.microsoft.com/office/drawing/2014/main" id="{B416C5C6-7670-89BB-3515-70C23F2FDE86}"/>
              </a:ext>
            </a:extLst>
          </p:cNvPr>
          <p:cNvSpPr txBox="1"/>
          <p:nvPr/>
        </p:nvSpPr>
        <p:spPr>
          <a:xfrm>
            <a:off x="316453" y="3790092"/>
            <a:ext cx="2383986" cy="369332"/>
          </a:xfrm>
          <a:prstGeom prst="rect">
            <a:avLst/>
          </a:prstGeom>
          <a:noFill/>
        </p:spPr>
        <p:txBody>
          <a:bodyPr wrap="none" rtlCol="0">
            <a:spAutoFit/>
          </a:bodyPr>
          <a:lstStyle/>
          <a:p>
            <a:pPr marL="285750" indent="-285750">
              <a:buFont typeface="Wingdings" panose="05000000000000000000" pitchFamily="2" charset="2"/>
              <a:buChar char="Ø"/>
            </a:pPr>
            <a:r>
              <a:rPr lang="en-US" b="1" u="sng" dirty="0">
                <a:latin typeface="Arial" panose="020B0604020202020204" pitchFamily="34" charset="0"/>
                <a:ea typeface="Calibri" panose="020F0502020204030204" pitchFamily="34" charset="0"/>
                <a:cs typeface="Arial" panose="020B0604020202020204" pitchFamily="34" charset="0"/>
              </a:rPr>
              <a:t>Problem Solution</a:t>
            </a:r>
          </a:p>
        </p:txBody>
      </p:sp>
      <p:sp>
        <p:nvSpPr>
          <p:cNvPr id="11" name="TextBox 10">
            <a:extLst>
              <a:ext uri="{FF2B5EF4-FFF2-40B4-BE49-F238E27FC236}">
                <a16:creationId xmlns:a16="http://schemas.microsoft.com/office/drawing/2014/main" id="{0A18C301-2D74-34E1-2F2C-E4B66C0E7901}"/>
              </a:ext>
            </a:extLst>
          </p:cNvPr>
          <p:cNvSpPr txBox="1"/>
          <p:nvPr/>
        </p:nvSpPr>
        <p:spPr>
          <a:xfrm>
            <a:off x="316454" y="4075266"/>
            <a:ext cx="11532455" cy="2308324"/>
          </a:xfrm>
          <a:prstGeom prst="rect">
            <a:avLst/>
          </a:prstGeom>
          <a:noFill/>
        </p:spPr>
        <p:txBody>
          <a:bodyPr wrap="square" rtlCol="0">
            <a:spAutoFit/>
          </a:bodyPr>
          <a:lstStyle/>
          <a:p>
            <a:pPr marL="285750" indent="-285750">
              <a:buFont typeface="Courier New" panose="02070309020205020404" pitchFamily="49" charset="0"/>
              <a:buChar char="o"/>
            </a:pPr>
            <a:r>
              <a:rPr lang="en-US" dirty="0"/>
              <a:t>This project aims to develop a robust and intelligent system to detect, prevent, and alert against tampering in weighing and measuring instruments.</a:t>
            </a:r>
          </a:p>
          <a:p>
            <a:pPr marL="285750" indent="-285750">
              <a:buFont typeface="Courier New" panose="02070309020205020404" pitchFamily="49" charset="0"/>
              <a:buChar char="o"/>
            </a:pPr>
            <a:r>
              <a:rPr lang="en-US" b="1" dirty="0"/>
              <a:t>Physical Tamper Alert: </a:t>
            </a:r>
            <a:r>
              <a:rPr lang="en-US" dirty="0"/>
              <a:t>If the setup is disturbed or broken, an alert message will be recorded and stored in the provided SD card.</a:t>
            </a:r>
          </a:p>
          <a:p>
            <a:pPr marL="285750" indent="-285750">
              <a:buFont typeface="Courier New" panose="02070309020205020404" pitchFamily="49" charset="0"/>
              <a:buChar char="o"/>
            </a:pPr>
            <a:r>
              <a:rPr lang="en-US" b="1" dirty="0"/>
              <a:t>Anomaly Alert </a:t>
            </a:r>
            <a:r>
              <a:rPr lang="en-US" b="1" dirty="0" err="1"/>
              <a:t>System:</a:t>
            </a:r>
            <a:r>
              <a:rPr lang="en-US" dirty="0" err="1"/>
              <a:t>If</a:t>
            </a:r>
            <a:r>
              <a:rPr lang="en-US" dirty="0"/>
              <a:t> the weighing instrument shows an abnormal or incorrect measurement, a warning message is generated and sent to the cloud for monitoring and record keeping.</a:t>
            </a:r>
          </a:p>
          <a:p>
            <a:pPr marL="285750" indent="-285750">
              <a:buFont typeface="Courier New" panose="02070309020205020404" pitchFamily="49" charset="0"/>
              <a:buChar char="o"/>
            </a:pPr>
            <a:r>
              <a:rPr lang="en-US" b="1" dirty="0"/>
              <a:t>Immutable </a:t>
            </a:r>
            <a:r>
              <a:rPr lang="en-US" b="1" dirty="0" err="1"/>
              <a:t>Records:</a:t>
            </a:r>
            <a:r>
              <a:rPr lang="en-US" dirty="0" err="1"/>
              <a:t>The</a:t>
            </a:r>
            <a:r>
              <a:rPr lang="en-US" dirty="0"/>
              <a:t> records are checked through the web, and necessary actions are taken against clients or individuals involved in tampering</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316153" y="1095375"/>
            <a:ext cx="3432887" cy="400110"/>
          </a:xfrm>
          <a:prstGeom prst="rect">
            <a:avLst/>
          </a:prstGeom>
          <a:noFill/>
          <a:ln w="9525">
            <a:noFill/>
            <a:miter lim="800000"/>
            <a:headEnd/>
            <a:tailEnd/>
          </a:ln>
        </p:spPr>
        <p:txBody>
          <a:bodyPr wrap="square">
            <a:spAutoFit/>
          </a:bodyPr>
          <a:lstStyle/>
          <a:p>
            <a:pPr marL="342900" indent="-342900" algn="just">
              <a:buFont typeface="Wingdings" panose="05000000000000000000" pitchFamily="2" charset="2"/>
              <a:buChar char="Ø"/>
            </a:pPr>
            <a:r>
              <a:rPr lang="en-US" sz="2000" b="1" dirty="0">
                <a:latin typeface="Arial" pitchFamily="34" charset="0"/>
                <a:cs typeface="Arial" pitchFamily="34" charset="0"/>
              </a:rPr>
              <a:t>Technical Solution</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Binary Brains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00BBF06-C213-73B4-9117-53B27C1CB03F}"/>
              </a:ext>
            </a:extLst>
          </p:cNvPr>
          <p:cNvSpPr txBox="1"/>
          <p:nvPr/>
        </p:nvSpPr>
        <p:spPr>
          <a:xfrm>
            <a:off x="316153" y="1429094"/>
            <a:ext cx="11720713" cy="3416320"/>
          </a:xfrm>
          <a:prstGeom prst="rect">
            <a:avLst/>
          </a:prstGeom>
          <a:noFill/>
        </p:spPr>
        <p:txBody>
          <a:bodyPr wrap="square" rtlCol="0">
            <a:spAutoFit/>
          </a:bodyPr>
          <a:lstStyle/>
          <a:p>
            <a:pPr marL="285750" indent="-285750">
              <a:buFont typeface="Courier New" panose="02070309020205020404" pitchFamily="49" charset="0"/>
              <a:buChar char="o"/>
            </a:pPr>
            <a:r>
              <a:rPr lang="en-US" dirty="0"/>
              <a:t>The entire system is </a:t>
            </a:r>
            <a:r>
              <a:rPr lang="en-US" b="1" dirty="0"/>
              <a:t>potted</a:t>
            </a:r>
            <a:r>
              <a:rPr lang="en-US" dirty="0"/>
              <a:t>, and </a:t>
            </a:r>
            <a:r>
              <a:rPr lang="en-US" b="1" dirty="0"/>
              <a:t>an LDR sensor is attached </a:t>
            </a:r>
            <a:r>
              <a:rPr lang="en-US" dirty="0"/>
              <a:t>to detect any attempt to break into the setup. If tampering is detected, the data is sent to the cloud .In a digital weighing machine that is not always connected to Wi-Fi, the data is stored in an SD card. The machine stops working only if tampering is detected, and once it connects to Wi-Fi, the stored data </a:t>
            </a:r>
            <a:r>
              <a:rPr lang="en-US" b="1" dirty="0"/>
              <a:t>is sent to the cloud</a:t>
            </a:r>
            <a:r>
              <a:rPr lang="en-US" dirty="0"/>
              <a:t>.</a:t>
            </a:r>
          </a:p>
          <a:p>
            <a:pPr marL="285750" indent="-285750">
              <a:buFont typeface="Courier New" panose="02070309020205020404" pitchFamily="49" charset="0"/>
              <a:buChar char="o"/>
            </a:pPr>
            <a:r>
              <a:rPr lang="en-US" b="1" dirty="0"/>
              <a:t>The ADC in the digital weighing machine </a:t>
            </a:r>
            <a:r>
              <a:rPr lang="en-US" dirty="0"/>
              <a:t>monitors for voltage spikes, while the </a:t>
            </a:r>
            <a:r>
              <a:rPr lang="en-US" b="1" dirty="0"/>
              <a:t>MCU in the fuel dispenser </a:t>
            </a:r>
            <a:r>
              <a:rPr lang="en-US" dirty="0"/>
              <a:t>cross-verifies the electric pulses with the digitally displayed values. If any error is detected, an alert is sent via the cloud</a:t>
            </a:r>
          </a:p>
          <a:p>
            <a:pPr marL="285750" indent="-285750">
              <a:buFont typeface="Courier New" panose="02070309020205020404" pitchFamily="49" charset="0"/>
              <a:buChar char="o"/>
            </a:pPr>
            <a:r>
              <a:rPr lang="en-US" b="1" dirty="0"/>
              <a:t>The MCU’s signature key </a:t>
            </a:r>
            <a:r>
              <a:rPr lang="en-US" dirty="0"/>
              <a:t>is stored in the cloud. If any modification occurs, the signature key will mismatch, allowing tampering to be detected.</a:t>
            </a:r>
          </a:p>
          <a:p>
            <a:pPr marL="285750" indent="-285750">
              <a:buFont typeface="Courier New" panose="02070309020205020404" pitchFamily="49" charset="0"/>
              <a:buChar char="o"/>
            </a:pPr>
            <a:r>
              <a:rPr lang="en-US" b="1" dirty="0"/>
              <a:t>A GPS module </a:t>
            </a:r>
            <a:r>
              <a:rPr lang="en-US" dirty="0"/>
              <a:t>is added to the setup to determine the location where tampering has occurred.</a:t>
            </a:r>
          </a:p>
          <a:p>
            <a:pPr marL="285750" indent="-285750">
              <a:buFont typeface="Courier New" panose="02070309020205020404" pitchFamily="49" charset="0"/>
              <a:buChar char="o"/>
            </a:pPr>
            <a:r>
              <a:rPr lang="en-US" dirty="0"/>
              <a:t>The light sensor is attached to </a:t>
            </a:r>
            <a:r>
              <a:rPr lang="en-US" b="1" dirty="0"/>
              <a:t>a battery </a:t>
            </a:r>
            <a:r>
              <a:rPr lang="en-US" dirty="0"/>
              <a:t>to ensure detection if the power source is disconnected before any physical tampering.</a:t>
            </a:r>
          </a:p>
          <a:p>
            <a:pPr marL="285750" indent="-285750">
              <a:buFont typeface="Courier New" panose="02070309020205020404" pitchFamily="49" charset="0"/>
              <a:buChar char="o"/>
            </a:pPr>
            <a:r>
              <a:rPr lang="en-US" b="1" dirty="0"/>
              <a:t>A smart nozzle </a:t>
            </a:r>
            <a:r>
              <a:rPr lang="en-US" dirty="0"/>
              <a:t>is attached to the fuel flow to prevent the fuel from flowing backward.</a:t>
            </a:r>
            <a:endParaRPr lang="en-IN" dirty="0"/>
          </a:p>
        </p:txBody>
      </p:sp>
      <p:sp>
        <p:nvSpPr>
          <p:cNvPr id="4" name="TextBox 8">
            <a:extLst>
              <a:ext uri="{FF2B5EF4-FFF2-40B4-BE49-F238E27FC236}">
                <a16:creationId xmlns:a16="http://schemas.microsoft.com/office/drawing/2014/main" id="{58F0F4C2-0620-C0F5-FA0A-E939395649A7}"/>
              </a:ext>
            </a:extLst>
          </p:cNvPr>
          <p:cNvSpPr txBox="1">
            <a:spLocks noChangeArrowheads="1"/>
          </p:cNvSpPr>
          <p:nvPr/>
        </p:nvSpPr>
        <p:spPr bwMode="auto">
          <a:xfrm>
            <a:off x="316152" y="4751927"/>
            <a:ext cx="3432887" cy="400110"/>
          </a:xfrm>
          <a:prstGeom prst="rect">
            <a:avLst/>
          </a:prstGeom>
          <a:noFill/>
          <a:ln w="9525">
            <a:noFill/>
            <a:miter lim="800000"/>
            <a:headEnd/>
            <a:tailEnd/>
          </a:ln>
        </p:spPr>
        <p:txBody>
          <a:bodyPr wrap="square">
            <a:spAutoFit/>
          </a:bodyPr>
          <a:lstStyle/>
          <a:p>
            <a:pPr marL="342900" indent="-342900" algn="just">
              <a:buFont typeface="Wingdings" panose="05000000000000000000" pitchFamily="2" charset="2"/>
              <a:buChar char="Ø"/>
            </a:pPr>
            <a:r>
              <a:rPr lang="en-US" sz="2000" b="1" dirty="0">
                <a:latin typeface="Arial"/>
              </a:rPr>
              <a:t>Technologies Used</a:t>
            </a:r>
            <a:endParaRPr lang="en-US" sz="2000" b="1" dirty="0">
              <a:latin typeface="Arial" pitchFamily="34" charset="0"/>
              <a:cs typeface="Arial" pitchFamily="34" charset="0"/>
            </a:endParaRPr>
          </a:p>
        </p:txBody>
      </p:sp>
      <p:sp>
        <p:nvSpPr>
          <p:cNvPr id="5" name="TextBox 4">
            <a:extLst>
              <a:ext uri="{FF2B5EF4-FFF2-40B4-BE49-F238E27FC236}">
                <a16:creationId xmlns:a16="http://schemas.microsoft.com/office/drawing/2014/main" id="{F4939F11-AACA-63EA-E58A-5CDD289A561D}"/>
              </a:ext>
            </a:extLst>
          </p:cNvPr>
          <p:cNvSpPr txBox="1"/>
          <p:nvPr/>
        </p:nvSpPr>
        <p:spPr>
          <a:xfrm>
            <a:off x="329772" y="5179133"/>
            <a:ext cx="11720714" cy="1200329"/>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Light Sensor(LDR)</a:t>
            </a:r>
            <a:endParaRPr lang="en-US" dirty="0"/>
          </a:p>
          <a:p>
            <a:pPr marL="285750" indent="-285750">
              <a:buFont typeface="Courier New" panose="02070309020205020404" pitchFamily="49" charset="0"/>
              <a:buChar char="o"/>
            </a:pPr>
            <a:r>
              <a:rPr lang="en-US" b="1" dirty="0"/>
              <a:t>NEO-M8N GPS Module with Ceramic Active Antenna</a:t>
            </a:r>
            <a:endParaRPr lang="en-US" dirty="0"/>
          </a:p>
          <a:p>
            <a:pPr marL="285750" indent="-285750">
              <a:buFont typeface="Courier New" panose="02070309020205020404" pitchFamily="49" charset="0"/>
              <a:buChar char="o"/>
            </a:pPr>
            <a:r>
              <a:rPr lang="en-IN" b="1" dirty="0"/>
              <a:t>HX711</a:t>
            </a:r>
            <a:r>
              <a:rPr lang="en-IN" dirty="0"/>
              <a:t> </a:t>
            </a:r>
            <a:r>
              <a:rPr lang="en-IN" b="1" dirty="0"/>
              <a:t>– 24-bit ADC</a:t>
            </a:r>
            <a:endParaRPr lang="en-US" dirty="0"/>
          </a:p>
          <a:p>
            <a:pPr marL="285750" indent="-285750">
              <a:buFont typeface="Courier New" panose="02070309020205020404" pitchFamily="49" charset="0"/>
              <a:buChar char="o"/>
            </a:pPr>
            <a:r>
              <a:rPr lang="en-IN" b="1" dirty="0"/>
              <a:t>CHANDOK Automatic Fuel Nozzles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2B07F-647F-AB7F-B7C5-E3B5E6EF8A16}"/>
            </a:ext>
          </a:extLst>
        </p:cNvPr>
        <p:cNvGrpSpPr/>
        <p:nvPr/>
      </p:nvGrpSpPr>
      <p:grpSpPr>
        <a:xfrm>
          <a:off x="0" y="0"/>
          <a:ext cx="0" cy="0"/>
          <a:chOff x="0" y="0"/>
          <a:chExt cx="0" cy="0"/>
        </a:xfrm>
      </p:grpSpPr>
      <p:sp>
        <p:nvSpPr>
          <p:cNvPr id="17409" name="Title 1">
            <a:extLst>
              <a:ext uri="{FF2B5EF4-FFF2-40B4-BE49-F238E27FC236}">
                <a16:creationId xmlns:a16="http://schemas.microsoft.com/office/drawing/2014/main" id="{6963361E-6069-6916-25BA-D39DAE4B95EA}"/>
              </a:ext>
            </a:extLst>
          </p:cNvPr>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Flow Diagram</a:t>
            </a:r>
          </a:p>
        </p:txBody>
      </p:sp>
      <p:sp>
        <p:nvSpPr>
          <p:cNvPr id="6" name="Slide Number Placeholder 5">
            <a:extLst>
              <a:ext uri="{FF2B5EF4-FFF2-40B4-BE49-F238E27FC236}">
                <a16:creationId xmlns:a16="http://schemas.microsoft.com/office/drawing/2014/main" id="{D20336C3-B3C8-F7E5-CD08-023699585F9C}"/>
              </a:ext>
            </a:extLst>
          </p:cNvPr>
          <p:cNvSpPr>
            <a:spLocks noGrp="1"/>
          </p:cNvSpPr>
          <p:nvPr>
            <p:ph type="sldNum" sz="quarter" idx="12"/>
          </p:nvPr>
        </p:nvSpPr>
        <p:spPr/>
        <p:txBody>
          <a:bodyPr/>
          <a:lstStyle/>
          <a:p>
            <a:fld id="{677C3CE7-23F7-4828-823C-E0205DF2CF97}" type="slidenum">
              <a:rPr lang="en-US" b="1">
                <a:solidFill>
                  <a:schemeClr val="bg1"/>
                </a:solidFill>
              </a:rPr>
              <a:pPr/>
              <a:t>4</a:t>
            </a:fld>
            <a:endParaRPr lang="en-US" b="1" dirty="0">
              <a:solidFill>
                <a:schemeClr val="bg1"/>
              </a:solidFill>
            </a:endParaRPr>
          </a:p>
        </p:txBody>
      </p:sp>
      <p:sp>
        <p:nvSpPr>
          <p:cNvPr id="7" name="Footer Placeholder 6">
            <a:extLst>
              <a:ext uri="{FF2B5EF4-FFF2-40B4-BE49-F238E27FC236}">
                <a16:creationId xmlns:a16="http://schemas.microsoft.com/office/drawing/2014/main" id="{99042B18-4CCB-8F76-8514-016E7478D63B}"/>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2147D7C4-D644-2082-A8B9-55933C94BBE5}"/>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Binary Brains</a:t>
            </a:r>
            <a:endParaRPr lang="en-IN" dirty="0"/>
          </a:p>
        </p:txBody>
      </p:sp>
      <p:pic>
        <p:nvPicPr>
          <p:cNvPr id="9" name="Picture 2" descr="https://www.sih.gov.in/img1/SIH-Logo.png">
            <a:extLst>
              <a:ext uri="{FF2B5EF4-FFF2-40B4-BE49-F238E27FC236}">
                <a16:creationId xmlns:a16="http://schemas.microsoft.com/office/drawing/2014/main" id="{F75CEACF-DDC8-D7D5-EA5E-FA37F5DE5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3A455A3-2BFC-C93F-E4DA-89BE9645C974}"/>
              </a:ext>
            </a:extLst>
          </p:cNvPr>
          <p:cNvPicPr>
            <a:picLocks noChangeAspect="1"/>
          </p:cNvPicPr>
          <p:nvPr/>
        </p:nvPicPr>
        <p:blipFill>
          <a:blip r:embed="rId4"/>
          <a:stretch>
            <a:fillRect/>
          </a:stretch>
        </p:blipFill>
        <p:spPr>
          <a:xfrm>
            <a:off x="1140000" y="1250406"/>
            <a:ext cx="9511593" cy="5471072"/>
          </a:xfrm>
          <a:prstGeom prst="rect">
            <a:avLst/>
          </a:prstGeom>
        </p:spPr>
      </p:pic>
    </p:spTree>
    <p:extLst>
      <p:ext uri="{BB962C8B-B14F-4D97-AF65-F5344CB8AC3E}">
        <p14:creationId xmlns:p14="http://schemas.microsoft.com/office/powerpoint/2010/main" val="311371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 Binary Brains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5">
            <a:extLst>
              <a:ext uri="{FF2B5EF4-FFF2-40B4-BE49-F238E27FC236}">
                <a16:creationId xmlns:a16="http://schemas.microsoft.com/office/drawing/2014/main" id="{DEBF5997-B1F3-B6B2-391B-CC5335CA3AE1}"/>
              </a:ext>
            </a:extLst>
          </p:cNvPr>
          <p:cNvSpPr>
            <a:spLocks noChangeArrowheads="1"/>
          </p:cNvSpPr>
          <p:nvPr/>
        </p:nvSpPr>
        <p:spPr bwMode="auto">
          <a:xfrm rot="10800000" flipV="1">
            <a:off x="329772" y="1641630"/>
            <a:ext cx="1141304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mn-lt"/>
              </a:rPr>
              <a:t>Uses low-cost, easily available components such as LDR, HX711, pulse logger, and check valve.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mn-lt"/>
              </a:rPr>
              <a:t>Can be simply integrated with existing machines.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mn-lt"/>
              </a:rPr>
              <a:t>Requires minimal maintenance.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mn-lt"/>
              </a:rPr>
              <a:t>Prevents fraud, saving significant losses.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mn-lt"/>
              </a:rPr>
              <a:t>Offers high return on investment and builds trust and compliance in the market</a:t>
            </a:r>
          </a:p>
          <a:p>
            <a:pPr marL="285750" lvl="0" indent="-285750" defTabSz="914400" eaLnBrk="0" hangingPunct="0">
              <a:buFont typeface="Courier New" panose="02070309020205020404" pitchFamily="49" charset="0"/>
              <a:buChar char="o"/>
            </a:pPr>
            <a:r>
              <a:rPr lang="en-US" sz="2800" dirty="0">
                <a:latin typeface="+mn-lt"/>
              </a:rPr>
              <a:t>Data can be monitored remotely in real-time, reducing the need for manual inspections.</a:t>
            </a:r>
          </a:p>
          <a:p>
            <a:pPr marL="285750" lvl="0" indent="-285750" defTabSz="914400" eaLnBrk="0" hangingPunct="0">
              <a:buFont typeface="Courier New" panose="02070309020205020404" pitchFamily="49" charset="0"/>
              <a:buChar char="o"/>
            </a:pPr>
            <a:r>
              <a:rPr lang="en-US" sz="2800" dirty="0">
                <a:latin typeface="+mn-lt"/>
              </a:rPr>
              <a:t>The system can be deployed across multiple dispensers and weighing machines with little modification.</a:t>
            </a:r>
            <a:endParaRPr kumimoji="0" lang="en-US" altLang="en-US" sz="2800" b="0" i="0" u="none" strike="noStrike" cap="none" normalizeH="0" baseline="0" dirty="0">
              <a:ln>
                <a:noFill/>
              </a:ln>
              <a:solidFill>
                <a:schemeClr val="tx1"/>
              </a:solidFill>
              <a:effectLst/>
              <a:latin typeface="+mn-lt"/>
            </a:endParaRPr>
          </a:p>
        </p:txBody>
      </p:sp>
      <p:sp>
        <p:nvSpPr>
          <p:cNvPr id="16" name="TextBox 15">
            <a:extLst>
              <a:ext uri="{FF2B5EF4-FFF2-40B4-BE49-F238E27FC236}">
                <a16:creationId xmlns:a16="http://schemas.microsoft.com/office/drawing/2014/main" id="{D5E777AD-F6C8-8253-C97D-26925BC3A4EA}"/>
              </a:ext>
            </a:extLst>
          </p:cNvPr>
          <p:cNvSpPr txBox="1"/>
          <p:nvPr/>
        </p:nvSpPr>
        <p:spPr>
          <a:xfrm>
            <a:off x="329773" y="1179965"/>
            <a:ext cx="7010827" cy="584775"/>
          </a:xfrm>
          <a:prstGeom prst="rect">
            <a:avLst/>
          </a:prstGeom>
          <a:noFill/>
        </p:spPr>
        <p:txBody>
          <a:bodyPr wrap="square" rtlCol="0">
            <a:spAutoFit/>
          </a:bodyPr>
          <a:lstStyle/>
          <a:p>
            <a:pPr marL="285750" indent="-285750">
              <a:buFont typeface="Wingdings" panose="05000000000000000000" pitchFamily="2" charset="2"/>
              <a:buChar char="Ø"/>
            </a:pPr>
            <a:r>
              <a:rPr lang="en-US" sz="3200" b="1" dirty="0">
                <a:latin typeface="Times New Roman"/>
              </a:rPr>
              <a:t>FEASIBILITY AND VIABILITY</a:t>
            </a:r>
            <a:endParaRPr lang="en-IN" sz="3200" dirty="0"/>
          </a:p>
        </p:txBody>
      </p:sp>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599" y="215303"/>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1843847"/>
            <a:ext cx="9385300" cy="46166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sz="2400" dirty="0">
              <a:solidFill>
                <a:prstClr val="black"/>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Binary Brains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00F8674-A1C5-74C3-67A0-F651E0FD7D99}"/>
              </a:ext>
            </a:extLst>
          </p:cNvPr>
          <p:cNvSpPr txBox="1"/>
          <p:nvPr/>
        </p:nvSpPr>
        <p:spPr>
          <a:xfrm>
            <a:off x="329772" y="1617479"/>
            <a:ext cx="9992787" cy="369332"/>
          </a:xfrm>
          <a:prstGeom prst="rect">
            <a:avLst/>
          </a:prstGeom>
          <a:noFill/>
        </p:spPr>
        <p:txBody>
          <a:bodyPr wrap="square" rtlCol="0">
            <a:spAutoFit/>
          </a:bodyPr>
          <a:lstStyle/>
          <a:p>
            <a:pPr marL="285750" indent="-285750">
              <a:buFont typeface="Courier New" panose="02070309020205020404" pitchFamily="49" charset="0"/>
              <a:buChar char="o"/>
            </a:pPr>
            <a:endParaRPr lang="en-IN" dirty="0"/>
          </a:p>
        </p:txBody>
      </p:sp>
      <p:sp>
        <p:nvSpPr>
          <p:cNvPr id="4" name="Rectangle 2">
            <a:extLst>
              <a:ext uri="{FF2B5EF4-FFF2-40B4-BE49-F238E27FC236}">
                <a16:creationId xmlns:a16="http://schemas.microsoft.com/office/drawing/2014/main" id="{CA421093-6053-415F-EBEA-79726A020E47}"/>
              </a:ext>
            </a:extLst>
          </p:cNvPr>
          <p:cNvSpPr>
            <a:spLocks noChangeArrowheads="1"/>
          </p:cNvSpPr>
          <p:nvPr/>
        </p:nvSpPr>
        <p:spPr bwMode="auto">
          <a:xfrm>
            <a:off x="329773" y="1292050"/>
            <a:ext cx="937756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mn-lt"/>
              </a:rPr>
              <a:t>Ensures accurate and reliable measurements.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mn-lt"/>
              </a:rPr>
              <a:t>Detects tampering, preventing fraud and financial losses.</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mn-lt"/>
              </a:rPr>
              <a:t>Supports legal and industrial compliance.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mn-lt"/>
              </a:rPr>
              <a:t>Promotes responsible usage and reduces misuse.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0" i="0" u="none" strike="noStrike" cap="none" normalizeH="0" baseline="0" dirty="0">
                <a:ln>
                  <a:noFill/>
                </a:ln>
                <a:solidFill>
                  <a:schemeClr val="tx1"/>
                </a:solidFill>
                <a:effectLst/>
                <a:latin typeface="+mn-lt"/>
              </a:rPr>
              <a:t>Builds trust, transparency, and accountability.</a:t>
            </a:r>
          </a:p>
          <a:p>
            <a:pPr marL="285750" indent="-285750" defTabSz="914400" eaLnBrk="0" hangingPunct="0">
              <a:buFont typeface="Courier New" panose="02070309020205020404" pitchFamily="49" charset="0"/>
              <a:buChar char="o"/>
            </a:pPr>
            <a:r>
              <a:rPr lang="en-US" sz="2400" dirty="0">
                <a:latin typeface="+mn-lt"/>
              </a:rPr>
              <a:t>Our project aims to attains following “</a:t>
            </a:r>
            <a:r>
              <a:rPr lang="en-US" sz="2400" b="1" dirty="0">
                <a:latin typeface="+mn-lt"/>
              </a:rPr>
              <a:t>Sustainable Development Goals</a:t>
            </a:r>
            <a:r>
              <a:rPr lang="en-US" b="1" dirty="0">
                <a:latin typeface="Arial"/>
              </a:rPr>
              <a:t>”</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05EBD951-8101-A12B-A174-0D0C28EB987A}"/>
              </a:ext>
            </a:extLst>
          </p:cNvPr>
          <p:cNvSpPr>
            <a:spLocks noChangeArrowheads="1"/>
          </p:cNvSpPr>
          <p:nvPr/>
        </p:nvSpPr>
        <p:spPr bwMode="auto">
          <a:xfrm>
            <a:off x="361856" y="3531921"/>
            <a:ext cx="1531079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n-lt"/>
              </a:rPr>
              <a:t>Goal 8: Decent Work and Economic Growth</a:t>
            </a:r>
            <a:r>
              <a:rPr kumimoji="0" lang="en-US" altLang="en-US" sz="2400" b="0" i="0" u="none" strike="noStrike" cap="none" normalizeH="0" baseline="0" dirty="0">
                <a:ln>
                  <a:noFill/>
                </a:ln>
                <a:solidFill>
                  <a:schemeClr val="tx1"/>
                </a:solidFill>
                <a:effectLst/>
                <a:latin typeface="+mn-lt"/>
              </a:rPr>
              <a:t> – Protects businesses from losses due to tampering.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n-lt"/>
              </a:rPr>
              <a:t>Goal 9: Industry, Innovation, and Infrastructure</a:t>
            </a:r>
            <a:r>
              <a:rPr kumimoji="0" lang="en-US" altLang="en-US" sz="2400" b="0" i="0" u="none" strike="noStrike" cap="none" normalizeH="0" baseline="0" dirty="0">
                <a:ln>
                  <a:noFill/>
                </a:ln>
                <a:solidFill>
                  <a:schemeClr val="tx1"/>
                </a:solidFill>
                <a:effectLst/>
                <a:latin typeface="+mn-lt"/>
              </a:rPr>
              <a:t> – Supports smart, reliable measurement systems in industries.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n-lt"/>
              </a:rPr>
              <a:t>Goal 12: Responsible Consumption and Production</a:t>
            </a:r>
            <a:r>
              <a:rPr kumimoji="0" lang="en-US" altLang="en-US" sz="2400" b="0" i="0" u="none" strike="noStrike" cap="none" normalizeH="0" baseline="0" dirty="0">
                <a:ln>
                  <a:noFill/>
                </a:ln>
                <a:solidFill>
                  <a:schemeClr val="tx1"/>
                </a:solidFill>
                <a:effectLst/>
                <a:latin typeface="+mn-lt"/>
              </a:rPr>
              <a:t> – Prevents misuse and wastage of products or fuel.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n-lt"/>
              </a:rPr>
              <a:t>Goal 16: Peace, Justice, and Strong Institutions</a:t>
            </a:r>
            <a:r>
              <a:rPr kumimoji="0" lang="en-US" altLang="en-US" sz="2400" b="0" i="0" u="none" strike="noStrike" cap="none" normalizeH="0" baseline="0" dirty="0">
                <a:ln>
                  <a:noFill/>
                </a:ln>
                <a:solidFill>
                  <a:schemeClr val="tx1"/>
                </a:solidFill>
                <a:effectLst/>
                <a:latin typeface="+mn-lt"/>
              </a:rPr>
              <a:t> – Strengthens trust, transparency, and accountability in commerce.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n-lt"/>
              </a:rPr>
              <a:t>Goal 17: Partnerships for the Goals</a:t>
            </a:r>
            <a:r>
              <a:rPr kumimoji="0" lang="en-US" altLang="en-US" sz="2400" b="0" i="0" u="none" strike="noStrike" cap="none" normalizeH="0" baseline="0" dirty="0">
                <a:ln>
                  <a:noFill/>
                </a:ln>
                <a:solidFill>
                  <a:schemeClr val="tx1"/>
                </a:solidFill>
                <a:effectLst/>
                <a:latin typeface="+mn-lt"/>
              </a:rPr>
              <a:t> – Encourages collaboration between technology providers, regulators, and ind</a:t>
            </a:r>
            <a:r>
              <a:rPr kumimoji="0" lang="en-US" altLang="en-US" sz="1800" b="0" i="0" u="none" strike="noStrike" cap="none" normalizeH="0" baseline="0" dirty="0">
                <a:ln>
                  <a:noFill/>
                </a:ln>
                <a:solidFill>
                  <a:schemeClr val="tx1"/>
                </a:solidFill>
                <a:effectLst/>
                <a:latin typeface="Arial" panose="020B0604020202020204" pitchFamily="34" charset="0"/>
              </a:rPr>
              <a:t>ustries.</a:t>
            </a:r>
          </a:p>
        </p:txBody>
      </p:sp>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452990" y="1284687"/>
            <a:ext cx="11594420" cy="5262979"/>
          </a:xfrm>
          <a:prstGeom prst="rect">
            <a:avLst/>
          </a:prstGeom>
          <a:noFill/>
          <a:ln w="9525">
            <a:noFill/>
            <a:miter lim="800000"/>
            <a:headEnd/>
            <a:tailEnd/>
          </a:ln>
        </p:spPr>
        <p:txBody>
          <a:bodyPr wrap="square">
            <a:spAutoFit/>
          </a:bodyPr>
          <a:lstStyle/>
          <a:p>
            <a:pPr marL="457200" lvl="0" indent="-457200" algn="just">
              <a:buFont typeface="Courier New" panose="02070309020205020404" pitchFamily="49" charset="0"/>
              <a:buChar char="o"/>
              <a:defRPr/>
            </a:pPr>
            <a:r>
              <a:rPr lang="en-US" sz="2800" dirty="0"/>
              <a:t>Tamper Detection in Industrial Sensors: An Approach Based on Anomaly Detection.</a:t>
            </a:r>
            <a:r>
              <a:rPr lang="en-IN" sz="2800" dirty="0"/>
              <a:t> William Villegas-Ch, Jaime Govea, Angel Jaramillo-Alcazar; </a:t>
            </a:r>
            <a:r>
              <a:rPr lang="en-IN" sz="2800" i="1" dirty="0"/>
              <a:t>Sensors</a:t>
            </a:r>
            <a:r>
              <a:rPr lang="en-IN" sz="2800" dirty="0"/>
              <a:t>, 2023.</a:t>
            </a:r>
          </a:p>
          <a:p>
            <a:pPr marL="457200" lvl="0" indent="-457200" algn="just">
              <a:buFont typeface="Courier New" panose="02070309020205020404" pitchFamily="49" charset="0"/>
              <a:buChar char="o"/>
              <a:defRPr/>
            </a:pPr>
            <a:r>
              <a:rPr lang="en-US" sz="2800" dirty="0"/>
              <a:t>Hardware Security Analysis of Smart Flow Meter in Fuel Dispensing Unit.</a:t>
            </a:r>
            <a:r>
              <a:rPr lang="en-IN" sz="2800" dirty="0"/>
              <a:t> Aakash V, </a:t>
            </a:r>
            <a:r>
              <a:rPr lang="en-IN" sz="2800" dirty="0" err="1"/>
              <a:t>Vinukumar</a:t>
            </a:r>
            <a:r>
              <a:rPr lang="en-IN" sz="2800" dirty="0"/>
              <a:t> A R, Anish S; </a:t>
            </a:r>
            <a:r>
              <a:rPr lang="en-IN" sz="2800" i="1" dirty="0"/>
              <a:t>IJIERT</a:t>
            </a:r>
            <a:r>
              <a:rPr lang="en-IN" sz="2800" dirty="0"/>
              <a:t> (India), 2021. </a:t>
            </a:r>
          </a:p>
          <a:p>
            <a:pPr marL="457200" lvl="0" indent="-457200" algn="just">
              <a:buFont typeface="Courier New" panose="02070309020205020404" pitchFamily="49" charset="0"/>
              <a:buChar char="o"/>
              <a:defRPr/>
            </a:pPr>
            <a:r>
              <a:rPr lang="en-IN" sz="2800" dirty="0"/>
              <a:t>Fuel Monitoring System. S. P. </a:t>
            </a:r>
            <a:r>
              <a:rPr lang="en-IN" sz="2800" dirty="0" err="1"/>
              <a:t>Palaskar</a:t>
            </a:r>
            <a:r>
              <a:rPr lang="en-IN" sz="2800" dirty="0"/>
              <a:t> et al.; </a:t>
            </a:r>
            <a:r>
              <a:rPr lang="en-IN" sz="2800" i="1" dirty="0"/>
              <a:t>IJRASET</a:t>
            </a:r>
            <a:r>
              <a:rPr lang="en-IN" sz="2800" dirty="0"/>
              <a:t>, 2023.</a:t>
            </a:r>
          </a:p>
          <a:p>
            <a:pPr marL="457200" lvl="0" indent="-457200" algn="just">
              <a:buFont typeface="Courier New" panose="02070309020205020404" pitchFamily="49" charset="0"/>
              <a:buChar char="o"/>
              <a:defRPr/>
            </a:pPr>
            <a:r>
              <a:rPr lang="en-US" sz="2800" dirty="0">
                <a:solidFill>
                  <a:prstClr val="black"/>
                </a:solidFill>
                <a:latin typeface="Arial" pitchFamily="34" charset="0"/>
                <a:cs typeface="Arial" pitchFamily="34" charset="0"/>
              </a:rPr>
              <a:t>Benchmarks for detecting Measurement Tang - F. Roger et al., </a:t>
            </a:r>
            <a:r>
              <a:rPr lang="en-US" sz="2800" dirty="0" err="1">
                <a:solidFill>
                  <a:prstClr val="black"/>
                </a:solidFill>
                <a:latin typeface="Arial" pitchFamily="34" charset="0"/>
                <a:cs typeface="Arial" pitchFamily="34" charset="0"/>
              </a:rPr>
              <a:t>arxiv</a:t>
            </a:r>
            <a:r>
              <a:rPr lang="en-US" sz="2800" dirty="0">
                <a:solidFill>
                  <a:prstClr val="black"/>
                </a:solidFill>
                <a:latin typeface="Arial" pitchFamily="34" charset="0"/>
                <a:cs typeface="Arial" pitchFamily="34" charset="0"/>
              </a:rPr>
              <a:t> (2023)*</a:t>
            </a:r>
          </a:p>
          <a:p>
            <a:pPr marL="457200" lvl="0" indent="-457200" algn="just">
              <a:buFont typeface="Courier New" panose="02070309020205020404" pitchFamily="49" charset="0"/>
              <a:buChar char="o"/>
              <a:defRPr/>
            </a:pPr>
            <a:r>
              <a:rPr lang="en-US" sz="2800" dirty="0">
                <a:solidFill>
                  <a:prstClr val="black"/>
                </a:solidFill>
                <a:latin typeface="Arial" pitchFamily="34" charset="0"/>
                <a:cs typeface="Arial" pitchFamily="34" charset="0"/>
              </a:rPr>
              <a:t> Fuel dispenser tampering / fraud detection literate f Patents - (example) Us patentUS9817042 B21)</a:t>
            </a:r>
          </a:p>
          <a:p>
            <a:pPr marL="457200" lvl="0" indent="-457200" algn="just">
              <a:buFont typeface="Courier New" panose="02070309020205020404" pitchFamily="49" charset="0"/>
              <a:buChar char="o"/>
              <a:defRPr/>
            </a:pPr>
            <a:r>
              <a:rPr lang="en-US" sz="2800" dirty="0">
                <a:solidFill>
                  <a:prstClr val="black"/>
                </a:solidFill>
                <a:latin typeface="Arial" pitchFamily="34" charset="0"/>
                <a:cs typeface="Arial" pitchFamily="34" charset="0"/>
              </a:rPr>
              <a:t> The ODSF implementation for fuel dispenses field surveillance/Conference paper</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Binary Brains</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7906</TotalTime>
  <Words>907</Words>
  <Application>Microsoft Office PowerPoint</Application>
  <PresentationFormat>Widescreen</PresentationFormat>
  <Paragraphs>80</Paragraphs>
  <Slides>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ＭＳ Ｐゴシック</vt:lpstr>
      <vt:lpstr>Arial</vt:lpstr>
      <vt:lpstr>Calibri</vt:lpstr>
      <vt:lpstr>Courier New</vt:lpstr>
      <vt:lpstr>Garamond</vt:lpstr>
      <vt:lpstr>Times New Roman</vt:lpstr>
      <vt:lpstr>TradeGothic</vt:lpstr>
      <vt:lpstr>Wingdings</vt:lpstr>
      <vt:lpstr>Office Theme</vt:lpstr>
      <vt:lpstr>SMART INDIA HACKATHON 2025</vt:lpstr>
      <vt:lpstr> Tamper Detection in Weighing and  Measuring Instruments</vt:lpstr>
      <vt:lpstr>TECHNICAL APPROACH</vt:lpstr>
      <vt:lpstr>Flow Diagram</vt:lpstr>
      <vt:lpstr>PowerPoint Presentation</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 SAVEETHA</cp:lastModifiedBy>
  <cp:revision>154</cp:revision>
  <dcterms:created xsi:type="dcterms:W3CDTF">2013-12-12T18:46:50Z</dcterms:created>
  <dcterms:modified xsi:type="dcterms:W3CDTF">2025-09-16T03:01:38Z</dcterms:modified>
  <cp:category/>
</cp:coreProperties>
</file>